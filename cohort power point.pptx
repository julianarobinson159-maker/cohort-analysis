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8" r:id="rId2"/>
    <p:sldId id="278" r:id="rId3"/>
    <p:sldId id="274" r:id="rId4"/>
    <p:sldId id="275" r:id="rId5"/>
    <p:sldId id="266" r:id="rId6"/>
    <p:sldId id="263" r:id="rId7"/>
    <p:sldId id="261" r:id="rId8"/>
    <p:sldId id="264" r:id="rId9"/>
    <p:sldId id="262" r:id="rId10"/>
    <p:sldId id="279" r:id="rId11"/>
    <p:sldId id="271" r:id="rId12"/>
    <p:sldId id="281" r:id="rId13"/>
    <p:sldId id="267" r:id="rId14"/>
    <p:sldId id="277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003366"/>
    <a:srgbClr val="E5F4F7"/>
    <a:srgbClr val="1422AC"/>
    <a:srgbClr val="FF6161"/>
    <a:srgbClr val="E5F2FF"/>
    <a:srgbClr val="EBF5FF"/>
    <a:srgbClr val="E5F8FF"/>
    <a:srgbClr val="FFD653"/>
    <a:srgbClr val="AFDC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A37402-04C1-4BC7-B5A5-24D378B13B7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CD08D4-D83B-415E-AB58-EF0E5A8AB5AB}">
      <dgm:prSet phldrT="[Text]" custT="1"/>
      <dgm:spPr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GB" sz="2000" b="0" u="none" dirty="0">
              <a:solidFill>
                <a:schemeClr val="tx1"/>
              </a:solidFill>
              <a:latin typeface="Arial "/>
              <a:cs typeface="Arial" panose="020B0604020202020204" pitchFamily="34" charset="0"/>
            </a:rPr>
            <a:t>No missing values, Date column converted to datetime, no duplicates</a:t>
          </a:r>
          <a:endParaRPr lang="en-US" sz="2000" b="0" u="none" dirty="0">
            <a:solidFill>
              <a:schemeClr val="tx1"/>
            </a:solidFill>
            <a:latin typeface="Arial "/>
            <a:cs typeface="Arial" panose="020B0604020202020204" pitchFamily="34" charset="0"/>
          </a:endParaRPr>
        </a:p>
      </dgm:t>
    </dgm:pt>
    <dgm:pt modelId="{3CCAD997-8A6D-4FAE-8711-43F5583D9BA1}" type="parTrans" cxnId="{CE02F91D-8160-4E24-87A1-C9E8D9B39C3B}">
      <dgm:prSet/>
      <dgm:spPr/>
      <dgm:t>
        <a:bodyPr/>
        <a:lstStyle/>
        <a:p>
          <a:endParaRPr lang="en-US"/>
        </a:p>
      </dgm:t>
    </dgm:pt>
    <dgm:pt modelId="{EBC338CC-4B6B-416A-93A9-2AEF3D566E08}" type="sibTrans" cxnId="{CE02F91D-8160-4E24-87A1-C9E8D9B39C3B}">
      <dgm:prSet/>
      <dgm:spPr/>
      <dgm:t>
        <a:bodyPr/>
        <a:lstStyle/>
        <a:p>
          <a:endParaRPr lang="en-US"/>
        </a:p>
      </dgm:t>
    </dgm:pt>
    <dgm:pt modelId="{BB1BE191-4102-4816-AEB1-4A261070B691}">
      <dgm:prSet custT="1"/>
      <dgm:spPr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GB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Features include customer details, transaction information, product details, and purchase location.</a:t>
          </a:r>
          <a:endParaRPr lang="en-US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A56CC5-C0FB-401A-9EEF-4D79EBDDEF16}" type="parTrans" cxnId="{6B6774AD-D440-4505-A57D-B7B0C2D33863}">
      <dgm:prSet/>
      <dgm:spPr/>
      <dgm:t>
        <a:bodyPr/>
        <a:lstStyle/>
        <a:p>
          <a:endParaRPr lang="en-US"/>
        </a:p>
      </dgm:t>
    </dgm:pt>
    <dgm:pt modelId="{E33667B4-FA46-47BE-8632-E7D9D2BB0D64}" type="sibTrans" cxnId="{6B6774AD-D440-4505-A57D-B7B0C2D33863}">
      <dgm:prSet/>
      <dgm:spPr/>
      <dgm:t>
        <a:bodyPr/>
        <a:lstStyle/>
        <a:p>
          <a:endParaRPr lang="en-US"/>
        </a:p>
      </dgm:t>
    </dgm:pt>
    <dgm:pt modelId="{DBE8CC8C-1A83-4E5B-B61F-CE264909BAD3}">
      <dgm:prSet phldrT="[Text]" phldr="0" custT="1"/>
      <dgm:spPr>
        <a:solidFill>
          <a:srgbClr val="F5F7FA"/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sz="2000" b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The dataset contains 385,314 transaction records and 8 features</a:t>
          </a:r>
          <a:endParaRPr lang="en-US" sz="2000" b="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9642F0-E274-457A-9031-2864B8253AE4}" type="sibTrans" cxnId="{0F3EC997-8333-4384-9CA0-A1B57EACDFFA}">
      <dgm:prSet/>
      <dgm:spPr/>
      <dgm:t>
        <a:bodyPr/>
        <a:lstStyle/>
        <a:p>
          <a:endParaRPr lang="en-US"/>
        </a:p>
      </dgm:t>
    </dgm:pt>
    <dgm:pt modelId="{60B7433A-513C-443F-B750-CFB1733617AE}" type="parTrans" cxnId="{0F3EC997-8333-4384-9CA0-A1B57EACDFFA}">
      <dgm:prSet/>
      <dgm:spPr/>
      <dgm:t>
        <a:bodyPr/>
        <a:lstStyle/>
        <a:p>
          <a:endParaRPr lang="en-US"/>
        </a:p>
      </dgm:t>
    </dgm:pt>
    <dgm:pt modelId="{FF33E3C7-ED19-425B-BD0D-E60D16B7D676}">
      <dgm:prSet phldrT="[Text]" custT="1"/>
      <dgm:spPr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GB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Time-based data used for cohort analysis Key variables are Invoice Date, Quantity, Price</a:t>
          </a:r>
          <a:r>
            <a:rPr lang="en-GB" sz="2000" b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</a:t>
          </a:r>
          <a:endParaRPr lang="en-US" sz="2000" b="0" u="none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B263D4-CE38-4912-884A-7C3D037569F2}" type="parTrans" cxnId="{14B3BC4B-1C79-433D-9C0B-E209234DC726}">
      <dgm:prSet/>
      <dgm:spPr/>
      <dgm:t>
        <a:bodyPr/>
        <a:lstStyle/>
        <a:p>
          <a:endParaRPr lang="en-US"/>
        </a:p>
      </dgm:t>
    </dgm:pt>
    <dgm:pt modelId="{B7DC16B7-87E2-498E-9F8E-6EBA95542A55}" type="sibTrans" cxnId="{14B3BC4B-1C79-433D-9C0B-E209234DC726}">
      <dgm:prSet/>
      <dgm:spPr/>
      <dgm:t>
        <a:bodyPr/>
        <a:lstStyle/>
        <a:p>
          <a:endParaRPr lang="en-US"/>
        </a:p>
      </dgm:t>
    </dgm:pt>
    <dgm:pt modelId="{ADC3C315-398A-4872-A983-0E53EB5C624C}" type="pres">
      <dgm:prSet presAssocID="{91A37402-04C1-4BC7-B5A5-24D378B13B7D}" presName="linear" presStyleCnt="0">
        <dgm:presLayoutVars>
          <dgm:dir/>
          <dgm:animLvl val="lvl"/>
          <dgm:resizeHandles val="exact"/>
        </dgm:presLayoutVars>
      </dgm:prSet>
      <dgm:spPr/>
    </dgm:pt>
    <dgm:pt modelId="{9CF0A0E3-ECD1-470D-9BAA-A6F95ECCC7A1}" type="pres">
      <dgm:prSet presAssocID="{DBE8CC8C-1A83-4E5B-B61F-CE264909BAD3}" presName="parentLin" presStyleCnt="0"/>
      <dgm:spPr/>
    </dgm:pt>
    <dgm:pt modelId="{22E89AB3-C357-4B3C-89FC-79E88D04160A}" type="pres">
      <dgm:prSet presAssocID="{DBE8CC8C-1A83-4E5B-B61F-CE264909BAD3}" presName="parentLeftMargin" presStyleLbl="node1" presStyleIdx="0" presStyleCnt="4"/>
      <dgm:spPr/>
    </dgm:pt>
    <dgm:pt modelId="{2593CDAE-65F9-4D52-BE52-790CE386F089}" type="pres">
      <dgm:prSet presAssocID="{DBE8CC8C-1A83-4E5B-B61F-CE264909BAD3}" presName="parentText" presStyleLbl="node1" presStyleIdx="0" presStyleCnt="4" custScaleY="150131">
        <dgm:presLayoutVars>
          <dgm:chMax val="0"/>
          <dgm:bulletEnabled val="1"/>
        </dgm:presLayoutVars>
      </dgm:prSet>
      <dgm:spPr/>
    </dgm:pt>
    <dgm:pt modelId="{89F9EC43-48E5-4B10-82CE-174C97652E5A}" type="pres">
      <dgm:prSet presAssocID="{DBE8CC8C-1A83-4E5B-B61F-CE264909BAD3}" presName="negativeSpace" presStyleCnt="0"/>
      <dgm:spPr/>
    </dgm:pt>
    <dgm:pt modelId="{02D66B1B-F3F7-4AB5-8662-0FC959ABA5EB}" type="pres">
      <dgm:prSet presAssocID="{DBE8CC8C-1A83-4E5B-B61F-CE264909BAD3}" presName="childText" presStyleLbl="conFgAcc1" presStyleIdx="0" presStyleCnt="4">
        <dgm:presLayoutVars>
          <dgm:bulletEnabled val="1"/>
        </dgm:presLayoutVars>
      </dgm:prSet>
      <dgm:spPr>
        <a:noFill/>
        <a:ln>
          <a:solidFill>
            <a:srgbClr val="003366"/>
          </a:solidFill>
        </a:ln>
      </dgm:spPr>
    </dgm:pt>
    <dgm:pt modelId="{F45A80AB-E627-4933-B622-4B3CEC6D8B1B}" type="pres">
      <dgm:prSet presAssocID="{259642F0-E274-457A-9031-2864B8253AE4}" presName="spaceBetweenRectangles" presStyleCnt="0"/>
      <dgm:spPr/>
    </dgm:pt>
    <dgm:pt modelId="{C0B20420-F78A-4959-8E10-31099BB78727}" type="pres">
      <dgm:prSet presAssocID="{BB1BE191-4102-4816-AEB1-4A261070B691}" presName="parentLin" presStyleCnt="0"/>
      <dgm:spPr/>
    </dgm:pt>
    <dgm:pt modelId="{62570DFF-7005-4BF7-B7FC-EABF612F4DE2}" type="pres">
      <dgm:prSet presAssocID="{BB1BE191-4102-4816-AEB1-4A261070B691}" presName="parentLeftMargin" presStyleLbl="node1" presStyleIdx="0" presStyleCnt="4"/>
      <dgm:spPr/>
    </dgm:pt>
    <dgm:pt modelId="{A1F0E0E4-10DA-4B5C-928C-BE520D31392E}" type="pres">
      <dgm:prSet presAssocID="{BB1BE191-4102-4816-AEB1-4A261070B691}" presName="parentText" presStyleLbl="node1" presStyleIdx="1" presStyleCnt="4" custScaleY="147594">
        <dgm:presLayoutVars>
          <dgm:chMax val="0"/>
          <dgm:bulletEnabled val="1"/>
        </dgm:presLayoutVars>
      </dgm:prSet>
      <dgm:spPr/>
    </dgm:pt>
    <dgm:pt modelId="{DD834E32-F867-4001-8E79-EB0F9695EC50}" type="pres">
      <dgm:prSet presAssocID="{BB1BE191-4102-4816-AEB1-4A261070B691}" presName="negativeSpace" presStyleCnt="0"/>
      <dgm:spPr/>
    </dgm:pt>
    <dgm:pt modelId="{3B2560E6-EC65-4831-A21A-FA863056D86E}" type="pres">
      <dgm:prSet presAssocID="{BB1BE191-4102-4816-AEB1-4A261070B691}" presName="childText" presStyleLbl="conFgAcc1" presStyleIdx="1" presStyleCnt="4" custLinFactNeighborY="67197">
        <dgm:presLayoutVars>
          <dgm:bulletEnabled val="1"/>
        </dgm:presLayoutVars>
      </dgm:prSet>
      <dgm:spPr>
        <a:noFill/>
        <a:ln>
          <a:solidFill>
            <a:srgbClr val="003366"/>
          </a:solidFill>
        </a:ln>
      </dgm:spPr>
    </dgm:pt>
    <dgm:pt modelId="{C233B299-5864-4552-AC25-5D342F11AF97}" type="pres">
      <dgm:prSet presAssocID="{E33667B4-FA46-47BE-8632-E7D9D2BB0D64}" presName="spaceBetweenRectangles" presStyleCnt="0"/>
      <dgm:spPr/>
    </dgm:pt>
    <dgm:pt modelId="{5FFCB259-D272-4165-9653-7C84F63206A4}" type="pres">
      <dgm:prSet presAssocID="{58CD08D4-D83B-415E-AB58-EF0E5A8AB5AB}" presName="parentLin" presStyleCnt="0"/>
      <dgm:spPr/>
    </dgm:pt>
    <dgm:pt modelId="{02CD81EA-CB2C-4C87-AA98-7B95C4EC299E}" type="pres">
      <dgm:prSet presAssocID="{58CD08D4-D83B-415E-AB58-EF0E5A8AB5AB}" presName="parentLeftMargin" presStyleLbl="node1" presStyleIdx="1" presStyleCnt="4"/>
      <dgm:spPr/>
    </dgm:pt>
    <dgm:pt modelId="{7130DDB8-F2D9-46E4-9A1D-6A7DBBB99FB5}" type="pres">
      <dgm:prSet presAssocID="{58CD08D4-D83B-415E-AB58-EF0E5A8AB5AB}" presName="parentText" presStyleLbl="node1" presStyleIdx="2" presStyleCnt="4" custScaleY="132393">
        <dgm:presLayoutVars>
          <dgm:chMax val="0"/>
          <dgm:bulletEnabled val="1"/>
        </dgm:presLayoutVars>
      </dgm:prSet>
      <dgm:spPr/>
    </dgm:pt>
    <dgm:pt modelId="{C324BE71-E065-4FB6-B81C-AA5E2CD14658}" type="pres">
      <dgm:prSet presAssocID="{58CD08D4-D83B-415E-AB58-EF0E5A8AB5AB}" presName="negativeSpace" presStyleCnt="0"/>
      <dgm:spPr/>
    </dgm:pt>
    <dgm:pt modelId="{5A696BAA-55AF-421C-8A27-78284D9339DE}" type="pres">
      <dgm:prSet presAssocID="{58CD08D4-D83B-415E-AB58-EF0E5A8AB5AB}" presName="childText" presStyleLbl="conFgAcc1" presStyleIdx="2" presStyleCnt="4">
        <dgm:presLayoutVars>
          <dgm:bulletEnabled val="1"/>
        </dgm:presLayoutVars>
      </dgm:prSet>
      <dgm:spPr>
        <a:solidFill>
          <a:schemeClr val="bg1">
            <a:alpha val="90000"/>
          </a:schemeClr>
        </a:solidFill>
        <a:ln>
          <a:solidFill>
            <a:srgbClr val="003366"/>
          </a:solidFill>
        </a:ln>
      </dgm:spPr>
    </dgm:pt>
    <dgm:pt modelId="{37DBC8DF-1FFC-4E89-BF3B-6CAE94AE29A9}" type="pres">
      <dgm:prSet presAssocID="{EBC338CC-4B6B-416A-93A9-2AEF3D566E08}" presName="spaceBetweenRectangles" presStyleCnt="0"/>
      <dgm:spPr/>
    </dgm:pt>
    <dgm:pt modelId="{7FB04DD5-5AD0-4826-B0B8-00032B9186E9}" type="pres">
      <dgm:prSet presAssocID="{FF33E3C7-ED19-425B-BD0D-E60D16B7D676}" presName="parentLin" presStyleCnt="0"/>
      <dgm:spPr/>
    </dgm:pt>
    <dgm:pt modelId="{942547D0-5C94-4D03-B2C2-B665EB39E4BC}" type="pres">
      <dgm:prSet presAssocID="{FF33E3C7-ED19-425B-BD0D-E60D16B7D676}" presName="parentLeftMargin" presStyleLbl="node1" presStyleIdx="2" presStyleCnt="4"/>
      <dgm:spPr/>
    </dgm:pt>
    <dgm:pt modelId="{2BE802B0-0BED-40D2-8A9B-FEC87FDBD34A}" type="pres">
      <dgm:prSet presAssocID="{FF33E3C7-ED19-425B-BD0D-E60D16B7D676}" presName="parentText" presStyleLbl="node1" presStyleIdx="3" presStyleCnt="4" custScaleY="155274">
        <dgm:presLayoutVars>
          <dgm:chMax val="0"/>
          <dgm:bulletEnabled val="1"/>
        </dgm:presLayoutVars>
      </dgm:prSet>
      <dgm:spPr/>
    </dgm:pt>
    <dgm:pt modelId="{DD7D90D2-96A3-4CE1-B34A-993C55A1D856}" type="pres">
      <dgm:prSet presAssocID="{FF33E3C7-ED19-425B-BD0D-E60D16B7D676}" presName="negativeSpace" presStyleCnt="0"/>
      <dgm:spPr/>
    </dgm:pt>
    <dgm:pt modelId="{797E97D7-6CF5-4241-9EDE-37BCEBDFE321}" type="pres">
      <dgm:prSet presAssocID="{FF33E3C7-ED19-425B-BD0D-E60D16B7D67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E02F91D-8160-4E24-87A1-C9E8D9B39C3B}" srcId="{91A37402-04C1-4BC7-B5A5-24D378B13B7D}" destId="{58CD08D4-D83B-415E-AB58-EF0E5A8AB5AB}" srcOrd="2" destOrd="0" parTransId="{3CCAD997-8A6D-4FAE-8711-43F5583D9BA1}" sibTransId="{EBC338CC-4B6B-416A-93A9-2AEF3D566E08}"/>
    <dgm:cxn modelId="{751BD75B-F28F-4A81-BF47-022AAFCA001D}" type="presOf" srcId="{BB1BE191-4102-4816-AEB1-4A261070B691}" destId="{62570DFF-7005-4BF7-B7FC-EABF612F4DE2}" srcOrd="0" destOrd="0" presId="urn:microsoft.com/office/officeart/2005/8/layout/list1"/>
    <dgm:cxn modelId="{14B3BC4B-1C79-433D-9C0B-E209234DC726}" srcId="{91A37402-04C1-4BC7-B5A5-24D378B13B7D}" destId="{FF33E3C7-ED19-425B-BD0D-E60D16B7D676}" srcOrd="3" destOrd="0" parTransId="{5BB263D4-CE38-4912-884A-7C3D037569F2}" sibTransId="{B7DC16B7-87E2-498E-9F8E-6EBA95542A55}"/>
    <dgm:cxn modelId="{6F2F4954-8729-4374-96CB-9B240131A2DA}" type="presOf" srcId="{DBE8CC8C-1A83-4E5B-B61F-CE264909BAD3}" destId="{22E89AB3-C357-4B3C-89FC-79E88D04160A}" srcOrd="0" destOrd="0" presId="urn:microsoft.com/office/officeart/2005/8/layout/list1"/>
    <dgm:cxn modelId="{0DD8C458-37E2-470D-BFE6-50BD95D39786}" type="presOf" srcId="{FF33E3C7-ED19-425B-BD0D-E60D16B7D676}" destId="{942547D0-5C94-4D03-B2C2-B665EB39E4BC}" srcOrd="0" destOrd="0" presId="urn:microsoft.com/office/officeart/2005/8/layout/list1"/>
    <dgm:cxn modelId="{0F3EC997-8333-4384-9CA0-A1B57EACDFFA}" srcId="{91A37402-04C1-4BC7-B5A5-24D378B13B7D}" destId="{DBE8CC8C-1A83-4E5B-B61F-CE264909BAD3}" srcOrd="0" destOrd="0" parTransId="{60B7433A-513C-443F-B750-CFB1733617AE}" sibTransId="{259642F0-E274-457A-9031-2864B8253AE4}"/>
    <dgm:cxn modelId="{20B59D9C-32F5-4C7C-973C-6CC91B55BDA9}" type="presOf" srcId="{DBE8CC8C-1A83-4E5B-B61F-CE264909BAD3}" destId="{2593CDAE-65F9-4D52-BE52-790CE386F089}" srcOrd="1" destOrd="0" presId="urn:microsoft.com/office/officeart/2005/8/layout/list1"/>
    <dgm:cxn modelId="{3C4566A4-DA98-4B76-AD40-B6E53397640C}" type="presOf" srcId="{58CD08D4-D83B-415E-AB58-EF0E5A8AB5AB}" destId="{7130DDB8-F2D9-46E4-9A1D-6A7DBBB99FB5}" srcOrd="1" destOrd="0" presId="urn:microsoft.com/office/officeart/2005/8/layout/list1"/>
    <dgm:cxn modelId="{138A35A8-50A9-4C83-86BE-65EAF20D96B2}" type="presOf" srcId="{58CD08D4-D83B-415E-AB58-EF0E5A8AB5AB}" destId="{02CD81EA-CB2C-4C87-AA98-7B95C4EC299E}" srcOrd="0" destOrd="0" presId="urn:microsoft.com/office/officeart/2005/8/layout/list1"/>
    <dgm:cxn modelId="{6B6774AD-D440-4505-A57D-B7B0C2D33863}" srcId="{91A37402-04C1-4BC7-B5A5-24D378B13B7D}" destId="{BB1BE191-4102-4816-AEB1-4A261070B691}" srcOrd="1" destOrd="0" parTransId="{A0A56CC5-C0FB-401A-9EEF-4D79EBDDEF16}" sibTransId="{E33667B4-FA46-47BE-8632-E7D9D2BB0D64}"/>
    <dgm:cxn modelId="{3A2E8ECA-0ECB-4FAE-8669-4BC04CEEDD36}" type="presOf" srcId="{91A37402-04C1-4BC7-B5A5-24D378B13B7D}" destId="{ADC3C315-398A-4872-A983-0E53EB5C624C}" srcOrd="0" destOrd="0" presId="urn:microsoft.com/office/officeart/2005/8/layout/list1"/>
    <dgm:cxn modelId="{2C6C7AE7-2F91-440A-A743-D36CC80DE2E4}" type="presOf" srcId="{FF33E3C7-ED19-425B-BD0D-E60D16B7D676}" destId="{2BE802B0-0BED-40D2-8A9B-FEC87FDBD34A}" srcOrd="1" destOrd="0" presId="urn:microsoft.com/office/officeart/2005/8/layout/list1"/>
    <dgm:cxn modelId="{CA4F18EF-17C3-41E2-8516-D507B8449D96}" type="presOf" srcId="{BB1BE191-4102-4816-AEB1-4A261070B691}" destId="{A1F0E0E4-10DA-4B5C-928C-BE520D31392E}" srcOrd="1" destOrd="0" presId="urn:microsoft.com/office/officeart/2005/8/layout/list1"/>
    <dgm:cxn modelId="{3DE4E931-974B-41DF-B32E-F95EF4781507}" type="presParOf" srcId="{ADC3C315-398A-4872-A983-0E53EB5C624C}" destId="{9CF0A0E3-ECD1-470D-9BAA-A6F95ECCC7A1}" srcOrd="0" destOrd="0" presId="urn:microsoft.com/office/officeart/2005/8/layout/list1"/>
    <dgm:cxn modelId="{D0D382BE-4125-493C-9DDB-5A4C65E9B2E0}" type="presParOf" srcId="{9CF0A0E3-ECD1-470D-9BAA-A6F95ECCC7A1}" destId="{22E89AB3-C357-4B3C-89FC-79E88D04160A}" srcOrd="0" destOrd="0" presId="urn:microsoft.com/office/officeart/2005/8/layout/list1"/>
    <dgm:cxn modelId="{E351A481-326B-4099-A7F9-EACC6166ADE1}" type="presParOf" srcId="{9CF0A0E3-ECD1-470D-9BAA-A6F95ECCC7A1}" destId="{2593CDAE-65F9-4D52-BE52-790CE386F089}" srcOrd="1" destOrd="0" presId="urn:microsoft.com/office/officeart/2005/8/layout/list1"/>
    <dgm:cxn modelId="{8A756F58-593D-49B6-AEE2-990B1813647D}" type="presParOf" srcId="{ADC3C315-398A-4872-A983-0E53EB5C624C}" destId="{89F9EC43-48E5-4B10-82CE-174C97652E5A}" srcOrd="1" destOrd="0" presId="urn:microsoft.com/office/officeart/2005/8/layout/list1"/>
    <dgm:cxn modelId="{E60F1717-DF71-4AC3-A921-F93506EB5133}" type="presParOf" srcId="{ADC3C315-398A-4872-A983-0E53EB5C624C}" destId="{02D66B1B-F3F7-4AB5-8662-0FC959ABA5EB}" srcOrd="2" destOrd="0" presId="urn:microsoft.com/office/officeart/2005/8/layout/list1"/>
    <dgm:cxn modelId="{1F0D0F4F-14A6-4408-8711-F0DC12739FA2}" type="presParOf" srcId="{ADC3C315-398A-4872-A983-0E53EB5C624C}" destId="{F45A80AB-E627-4933-B622-4B3CEC6D8B1B}" srcOrd="3" destOrd="0" presId="urn:microsoft.com/office/officeart/2005/8/layout/list1"/>
    <dgm:cxn modelId="{24F0D60E-E164-417C-B9F1-230B3426EB2F}" type="presParOf" srcId="{ADC3C315-398A-4872-A983-0E53EB5C624C}" destId="{C0B20420-F78A-4959-8E10-31099BB78727}" srcOrd="4" destOrd="0" presId="urn:microsoft.com/office/officeart/2005/8/layout/list1"/>
    <dgm:cxn modelId="{5BFABD23-C8ED-4F3A-9E83-C453BA9E0841}" type="presParOf" srcId="{C0B20420-F78A-4959-8E10-31099BB78727}" destId="{62570DFF-7005-4BF7-B7FC-EABF612F4DE2}" srcOrd="0" destOrd="0" presId="urn:microsoft.com/office/officeart/2005/8/layout/list1"/>
    <dgm:cxn modelId="{7CCE0281-A983-4B87-93BA-4B03FEB63D6C}" type="presParOf" srcId="{C0B20420-F78A-4959-8E10-31099BB78727}" destId="{A1F0E0E4-10DA-4B5C-928C-BE520D31392E}" srcOrd="1" destOrd="0" presId="urn:microsoft.com/office/officeart/2005/8/layout/list1"/>
    <dgm:cxn modelId="{A7089116-89E3-47C0-8F06-D45BB56FBD16}" type="presParOf" srcId="{ADC3C315-398A-4872-A983-0E53EB5C624C}" destId="{DD834E32-F867-4001-8E79-EB0F9695EC50}" srcOrd="5" destOrd="0" presId="urn:microsoft.com/office/officeart/2005/8/layout/list1"/>
    <dgm:cxn modelId="{E18F7D1F-8E3D-4DED-AD8D-A0F350408A2B}" type="presParOf" srcId="{ADC3C315-398A-4872-A983-0E53EB5C624C}" destId="{3B2560E6-EC65-4831-A21A-FA863056D86E}" srcOrd="6" destOrd="0" presId="urn:microsoft.com/office/officeart/2005/8/layout/list1"/>
    <dgm:cxn modelId="{546159AF-1704-4EB8-A4DC-38889DEFFB27}" type="presParOf" srcId="{ADC3C315-398A-4872-A983-0E53EB5C624C}" destId="{C233B299-5864-4552-AC25-5D342F11AF97}" srcOrd="7" destOrd="0" presId="urn:microsoft.com/office/officeart/2005/8/layout/list1"/>
    <dgm:cxn modelId="{949D2D25-F887-46A6-A434-47C19B7FC159}" type="presParOf" srcId="{ADC3C315-398A-4872-A983-0E53EB5C624C}" destId="{5FFCB259-D272-4165-9653-7C84F63206A4}" srcOrd="8" destOrd="0" presId="urn:microsoft.com/office/officeart/2005/8/layout/list1"/>
    <dgm:cxn modelId="{5F10B96D-97EA-4B6D-9FE4-9604540B82D4}" type="presParOf" srcId="{5FFCB259-D272-4165-9653-7C84F63206A4}" destId="{02CD81EA-CB2C-4C87-AA98-7B95C4EC299E}" srcOrd="0" destOrd="0" presId="urn:microsoft.com/office/officeart/2005/8/layout/list1"/>
    <dgm:cxn modelId="{F72005ED-11BE-4E46-8107-60B21801D5A1}" type="presParOf" srcId="{5FFCB259-D272-4165-9653-7C84F63206A4}" destId="{7130DDB8-F2D9-46E4-9A1D-6A7DBBB99FB5}" srcOrd="1" destOrd="0" presId="urn:microsoft.com/office/officeart/2005/8/layout/list1"/>
    <dgm:cxn modelId="{147B2DA9-7931-4F78-9A28-0D5B652792EC}" type="presParOf" srcId="{ADC3C315-398A-4872-A983-0E53EB5C624C}" destId="{C324BE71-E065-4FB6-B81C-AA5E2CD14658}" srcOrd="9" destOrd="0" presId="urn:microsoft.com/office/officeart/2005/8/layout/list1"/>
    <dgm:cxn modelId="{B190AD1E-2359-4177-80D5-E829115EA863}" type="presParOf" srcId="{ADC3C315-398A-4872-A983-0E53EB5C624C}" destId="{5A696BAA-55AF-421C-8A27-78284D9339DE}" srcOrd="10" destOrd="0" presId="urn:microsoft.com/office/officeart/2005/8/layout/list1"/>
    <dgm:cxn modelId="{31017E71-0E9B-487A-A041-EE37C06242B6}" type="presParOf" srcId="{ADC3C315-398A-4872-A983-0E53EB5C624C}" destId="{37DBC8DF-1FFC-4E89-BF3B-6CAE94AE29A9}" srcOrd="11" destOrd="0" presId="urn:microsoft.com/office/officeart/2005/8/layout/list1"/>
    <dgm:cxn modelId="{4F749889-92A2-4B82-A455-278E08645206}" type="presParOf" srcId="{ADC3C315-398A-4872-A983-0E53EB5C624C}" destId="{7FB04DD5-5AD0-4826-B0B8-00032B9186E9}" srcOrd="12" destOrd="0" presId="urn:microsoft.com/office/officeart/2005/8/layout/list1"/>
    <dgm:cxn modelId="{C4EE4DAE-4567-4CB0-B5A5-8059C51395AB}" type="presParOf" srcId="{7FB04DD5-5AD0-4826-B0B8-00032B9186E9}" destId="{942547D0-5C94-4D03-B2C2-B665EB39E4BC}" srcOrd="0" destOrd="0" presId="urn:microsoft.com/office/officeart/2005/8/layout/list1"/>
    <dgm:cxn modelId="{E6224832-9566-408B-9410-090630064980}" type="presParOf" srcId="{7FB04DD5-5AD0-4826-B0B8-00032B9186E9}" destId="{2BE802B0-0BED-40D2-8A9B-FEC87FDBD34A}" srcOrd="1" destOrd="0" presId="urn:microsoft.com/office/officeart/2005/8/layout/list1"/>
    <dgm:cxn modelId="{DCEEAF15-FB97-4ADA-B45D-D2E8A0D3BF92}" type="presParOf" srcId="{ADC3C315-398A-4872-A983-0E53EB5C624C}" destId="{DD7D90D2-96A3-4CE1-B34A-993C55A1D856}" srcOrd="13" destOrd="0" presId="urn:microsoft.com/office/officeart/2005/8/layout/list1"/>
    <dgm:cxn modelId="{067C8F56-2EE8-41CB-807F-53FE96CBD918}" type="presParOf" srcId="{ADC3C315-398A-4872-A983-0E53EB5C624C}" destId="{797E97D7-6CF5-4241-9EDE-37BCEBDFE321}" srcOrd="14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66B1B-F3F7-4AB5-8662-0FC959ABA5EB}">
      <dsp:nvSpPr>
        <dsp:cNvPr id="0" name=""/>
        <dsp:cNvSpPr/>
      </dsp:nvSpPr>
      <dsp:spPr>
        <a:xfrm>
          <a:off x="0" y="724167"/>
          <a:ext cx="7350277" cy="579600"/>
        </a:xfrm>
        <a:prstGeom prst="rect">
          <a:avLst/>
        </a:prstGeom>
        <a:noFill/>
        <a:ln w="12700" cap="flat" cmpd="sng" algn="ctr">
          <a:solidFill>
            <a:srgbClr val="00336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3CDAE-65F9-4D52-BE52-790CE386F089}">
      <dsp:nvSpPr>
        <dsp:cNvPr id="0" name=""/>
        <dsp:cNvSpPr/>
      </dsp:nvSpPr>
      <dsp:spPr>
        <a:xfrm>
          <a:off x="367513" y="44318"/>
          <a:ext cx="5145193" cy="1019329"/>
        </a:xfrm>
        <a:prstGeom prst="roundRect">
          <a:avLst/>
        </a:prstGeom>
        <a:solidFill>
          <a:srgbClr val="F5F7FA"/>
        </a:solidFill>
        <a:ln w="12700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76" tIns="0" rIns="1944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The dataset contains 385,314 transaction records and 8 features</a:t>
          </a:r>
          <a:endParaRPr lang="en-US" sz="2000" b="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7273" y="94078"/>
        <a:ext cx="5045673" cy="919809"/>
      </dsp:txXfrm>
    </dsp:sp>
    <dsp:sp modelId="{3B2560E6-EC65-4831-A21A-FA863056D86E}">
      <dsp:nvSpPr>
        <dsp:cNvPr id="0" name=""/>
        <dsp:cNvSpPr/>
      </dsp:nvSpPr>
      <dsp:spPr>
        <a:xfrm>
          <a:off x="0" y="2174050"/>
          <a:ext cx="7350277" cy="579600"/>
        </a:xfrm>
        <a:prstGeom prst="rect">
          <a:avLst/>
        </a:prstGeom>
        <a:noFill/>
        <a:ln w="12700" cap="flat" cmpd="sng" algn="ctr">
          <a:solidFill>
            <a:srgbClr val="00336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0E0E4-10DA-4B5C-928C-BE520D31392E}">
      <dsp:nvSpPr>
        <dsp:cNvPr id="0" name=""/>
        <dsp:cNvSpPr/>
      </dsp:nvSpPr>
      <dsp:spPr>
        <a:xfrm>
          <a:off x="367513" y="1427967"/>
          <a:ext cx="5145193" cy="1002104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76" tIns="0" rIns="1944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Features include customer details, transaction information, product details, and purchase location.</a:t>
          </a:r>
          <a:endParaRPr lang="en-US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6432" y="1476886"/>
        <a:ext cx="5047355" cy="904266"/>
      </dsp:txXfrm>
    </dsp:sp>
    <dsp:sp modelId="{5A696BAA-55AF-421C-8A27-78284D9339DE}">
      <dsp:nvSpPr>
        <dsp:cNvPr id="0" name=""/>
        <dsp:cNvSpPr/>
      </dsp:nvSpPr>
      <dsp:spPr>
        <a:xfrm>
          <a:off x="0" y="3353807"/>
          <a:ext cx="7350277" cy="579600"/>
        </a:xfrm>
        <a:prstGeom prst="rect">
          <a:avLst/>
        </a:prstGeom>
        <a:solidFill>
          <a:schemeClr val="bg1">
            <a:alpha val="90000"/>
          </a:schemeClr>
        </a:solidFill>
        <a:ln w="12700" cap="flat" cmpd="sng" algn="ctr">
          <a:solidFill>
            <a:srgbClr val="00336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0DDB8-F2D9-46E4-9A1D-6A7DBBB99FB5}">
      <dsp:nvSpPr>
        <dsp:cNvPr id="0" name=""/>
        <dsp:cNvSpPr/>
      </dsp:nvSpPr>
      <dsp:spPr>
        <a:xfrm>
          <a:off x="367513" y="2794391"/>
          <a:ext cx="5145193" cy="898895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76" tIns="0" rIns="1944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u="none" kern="1200" dirty="0">
              <a:solidFill>
                <a:schemeClr val="tx1"/>
              </a:solidFill>
              <a:latin typeface="Arial "/>
              <a:cs typeface="Arial" panose="020B0604020202020204" pitchFamily="34" charset="0"/>
            </a:rPr>
            <a:t>No missing values, Date column converted to datetime, no duplicates</a:t>
          </a:r>
          <a:endParaRPr lang="en-US" sz="2000" b="0" u="none" kern="1200" dirty="0">
            <a:solidFill>
              <a:schemeClr val="tx1"/>
            </a:solidFill>
            <a:latin typeface="Arial "/>
            <a:cs typeface="Arial" panose="020B0604020202020204" pitchFamily="34" charset="0"/>
          </a:endParaRPr>
        </a:p>
      </dsp:txBody>
      <dsp:txXfrm>
        <a:off x="411393" y="2838271"/>
        <a:ext cx="5057433" cy="811135"/>
      </dsp:txXfrm>
    </dsp:sp>
    <dsp:sp modelId="{797E97D7-6CF5-4241-9EDE-37BCEBDFE321}">
      <dsp:nvSpPr>
        <dsp:cNvPr id="0" name=""/>
        <dsp:cNvSpPr/>
      </dsp:nvSpPr>
      <dsp:spPr>
        <a:xfrm>
          <a:off x="0" y="4772375"/>
          <a:ext cx="735027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802B0-0BED-40D2-8A9B-FEC87FDBD34A}">
      <dsp:nvSpPr>
        <dsp:cNvPr id="0" name=""/>
        <dsp:cNvSpPr/>
      </dsp:nvSpPr>
      <dsp:spPr>
        <a:xfrm>
          <a:off x="367513" y="4057607"/>
          <a:ext cx="5145193" cy="1054248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76" tIns="0" rIns="1944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Time-based data used for cohort analysis Key variables are Invoice Date, Quantity, Price</a:t>
          </a:r>
          <a:r>
            <a:rPr lang="en-GB" sz="2000" b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</a:t>
          </a:r>
          <a:endParaRPr lang="en-US" sz="2000" b="0" u="none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977" y="4109071"/>
        <a:ext cx="5042265" cy="951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A257D-E529-44E1-9A62-89E3C78D68C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12C74-E234-4076-A469-C28FA535F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0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64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7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4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50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18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08B6-81FC-A509-9C71-677FA8F4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D8A52-ACE1-C798-3E6B-7B6F100AA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0897E-34A9-4B53-1616-E419DBAC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0939C-951F-FAC5-B714-EF47A0EE0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54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53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A99C0-CC62-FBCA-2E13-3BB067CE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FD78E-711A-36AD-1DC6-0BA0692BD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C37E5-226F-3884-03F8-1CC2670CD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8271A-D02B-251C-D8EC-880C4A4C7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286F-411A-19A9-ACBD-84961F14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755C5-CB2B-05F0-0AA0-2836FA171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19400-73D2-C91E-44D7-C59517153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172D1-2C92-04F1-4E3C-45D862CCA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2C74-E234-4076-A469-C28FA535F4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30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3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9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2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0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2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4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7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1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C9C62BE-D2D2-4EBC-80EC-902FA626B17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9DBD1769-C955-47CB-BFAB-8D19648F7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5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65D81D-B786-1E97-45AD-C3B37D910EEC}"/>
              </a:ext>
            </a:extLst>
          </p:cNvPr>
          <p:cNvSpPr txBox="1"/>
          <p:nvPr/>
        </p:nvSpPr>
        <p:spPr>
          <a:xfrm>
            <a:off x="1438837" y="734786"/>
            <a:ext cx="706855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/>
              <a:t>COHORT ANALYSIS FOR CUSTOMER RETENTION</a:t>
            </a:r>
          </a:p>
          <a:p>
            <a:pPr algn="ctr"/>
            <a:endParaRPr lang="en-GB" sz="5400" b="1" dirty="0"/>
          </a:p>
          <a:p>
            <a:r>
              <a:rPr lang="en-GB" sz="3600" b="1" dirty="0"/>
              <a:t>       </a:t>
            </a:r>
          </a:p>
          <a:p>
            <a:endParaRPr lang="en-GB" sz="3600" b="1" dirty="0"/>
          </a:p>
          <a:p>
            <a:r>
              <a:rPr lang="en-GB" sz="3600" b="1" dirty="0"/>
              <a:t>         Juliana Robinson</a:t>
            </a:r>
            <a:endParaRPr lang="en-US" sz="3600" b="1" dirty="0"/>
          </a:p>
          <a:p>
            <a:pPr algn="ctr"/>
            <a:endParaRPr lang="en-GB" sz="3600" b="1" dirty="0"/>
          </a:p>
          <a:p>
            <a:pPr algn="ctr"/>
            <a:endParaRPr lang="en-GB" sz="2400" b="1" dirty="0"/>
          </a:p>
          <a:p>
            <a:pPr algn="ctr"/>
            <a:endParaRPr lang="en-US" sz="2400" b="1" dirty="0"/>
          </a:p>
        </p:txBody>
      </p:sp>
      <p:sp>
        <p:nvSpPr>
          <p:cNvPr id="3" name="AutoShape 2" descr="See related image detail. Navigating the Future: Cohort Analysis for Web3 Marketing Mastery ...">
            <a:extLst>
              <a:ext uri="{FF2B5EF4-FFF2-40B4-BE49-F238E27FC236}">
                <a16:creationId xmlns:a16="http://schemas.microsoft.com/office/drawing/2014/main" id="{D81C1EA0-8416-7579-8493-B37BCEB238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4ECA2B-6496-5132-7E5D-2FFAFA3D3D27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98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2ACBE6-8907-E349-C86B-946E2BA96DE9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D8F12C-51E3-3D80-3687-0E939088D7AF}"/>
              </a:ext>
            </a:extLst>
          </p:cNvPr>
          <p:cNvSpPr txBox="1"/>
          <p:nvPr/>
        </p:nvSpPr>
        <p:spPr>
          <a:xfrm>
            <a:off x="897025" y="-32658"/>
            <a:ext cx="6011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  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DA0B40C-67CA-92DB-D2F5-2FDD5443CF36}"/>
              </a:ext>
            </a:extLst>
          </p:cNvPr>
          <p:cNvSpPr/>
          <p:nvPr/>
        </p:nvSpPr>
        <p:spPr>
          <a:xfrm>
            <a:off x="2737459" y="1018487"/>
            <a:ext cx="3590062" cy="5566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ShopSphere</a:t>
            </a:r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gets many new customers, but:</a:t>
            </a:r>
          </a:p>
          <a:p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customers only buy once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stop using the platform after their first purchase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activity drops over time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difficult to understand how different customer groups behave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8C588D1-7EBA-048D-2F96-CD007A344DF3}"/>
              </a:ext>
            </a:extLst>
          </p:cNvPr>
          <p:cNvSpPr/>
          <p:nvPr/>
        </p:nvSpPr>
        <p:spPr>
          <a:xfrm>
            <a:off x="7791356" y="980387"/>
            <a:ext cx="3590062" cy="56049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51772D-210D-33F9-6A77-8F155BFAABC5}"/>
              </a:ext>
            </a:extLst>
          </p:cNvPr>
          <p:cNvSpPr txBox="1"/>
          <p:nvPr/>
        </p:nvSpPr>
        <p:spPr>
          <a:xfrm>
            <a:off x="7952119" y="1457606"/>
            <a:ext cx="3268535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causes: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repeat purchases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marketing costs to attract new customers again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customer loyalty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Unstable long-term growth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1A6B83-3597-9682-3DA8-B800C3B89B7D}"/>
              </a:ext>
            </a:extLst>
          </p:cNvPr>
          <p:cNvCxnSpPr>
            <a:cxnSpLocks/>
          </p:cNvCxnSpPr>
          <p:nvPr/>
        </p:nvCxnSpPr>
        <p:spPr>
          <a:xfrm>
            <a:off x="1020029" y="613673"/>
            <a:ext cx="2154971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4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FE27-1E6A-18F9-DC1C-0370A0DD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5CD467-F86E-ECEA-B4DB-2A408A094D5D}"/>
              </a:ext>
            </a:extLst>
          </p:cNvPr>
          <p:cNvSpPr txBox="1"/>
          <p:nvPr/>
        </p:nvSpPr>
        <p:spPr>
          <a:xfrm>
            <a:off x="1083128" y="143883"/>
            <a:ext cx="6108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18A55-9C29-B0B9-3D6D-B9201EB24F62}"/>
              </a:ext>
            </a:extLst>
          </p:cNvPr>
          <p:cNvSpPr txBox="1"/>
          <p:nvPr/>
        </p:nvSpPr>
        <p:spPr>
          <a:xfrm>
            <a:off x="1771651" y="1112762"/>
            <a:ext cx="853698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understand how customers behave over time using cohort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2400" dirty="0"/>
              <a:t>Measure </a:t>
            </a:r>
            <a:r>
              <a:rPr lang="en-GB" sz="2400" b="1" dirty="0"/>
              <a:t>customer retention after first purchase</a:t>
            </a:r>
            <a:r>
              <a:rPr lang="en-GB" sz="2400" dirty="0"/>
              <a:t> 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find when customers stop using the platform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compare different customer groups and their retention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improve customer loyalty and increase repeat purchases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lvl="0"/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6B471A-E4D8-5F3A-FA2C-3114B10FBB76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0C1554-B6E7-691D-88A8-C10176A95307}"/>
              </a:ext>
            </a:extLst>
          </p:cNvPr>
          <p:cNvCxnSpPr>
            <a:cxnSpLocks/>
          </p:cNvCxnSpPr>
          <p:nvPr/>
        </p:nvCxnSpPr>
        <p:spPr>
          <a:xfrm>
            <a:off x="1223229" y="715244"/>
            <a:ext cx="2154971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6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B2D4-A805-145A-67E3-FD47434F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12AC7F0-1DD4-2131-9D49-8BDC3025D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02751"/>
              </p:ext>
            </p:extLst>
          </p:nvPr>
        </p:nvGraphicFramePr>
        <p:xfrm>
          <a:off x="2925833" y="970645"/>
          <a:ext cx="7350277" cy="5396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C403368-8AD1-92E5-8314-1964CB00CEEE}"/>
              </a:ext>
            </a:extLst>
          </p:cNvPr>
          <p:cNvSpPr txBox="1"/>
          <p:nvPr/>
        </p:nvSpPr>
        <p:spPr>
          <a:xfrm>
            <a:off x="228591" y="-8072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DATA OVERVIEW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8044A2-DABC-708A-5C06-C4B59E70FC13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EF5329-3AA9-8C45-968C-CC4DC55E40A4}"/>
              </a:ext>
            </a:extLst>
          </p:cNvPr>
          <p:cNvCxnSpPr>
            <a:cxnSpLocks/>
          </p:cNvCxnSpPr>
          <p:nvPr/>
        </p:nvCxnSpPr>
        <p:spPr>
          <a:xfrm>
            <a:off x="1408286" y="565608"/>
            <a:ext cx="2154971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63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3E49C3-DCE7-7FB0-CC4E-0205838591FA}"/>
              </a:ext>
            </a:extLst>
          </p:cNvPr>
          <p:cNvSpPr txBox="1"/>
          <p:nvPr/>
        </p:nvSpPr>
        <p:spPr>
          <a:xfrm>
            <a:off x="1741719" y="1763328"/>
            <a:ext cx="8879110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Creating Revenue from Quantity × Unit Price</a:t>
            </a:r>
          </a:p>
          <a:p>
            <a:pPr marL="457200" lvl="0" indent="-4572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Extracting Month/Year from Invoice Date</a:t>
            </a:r>
          </a:p>
          <a:p>
            <a:pPr marL="457200" lvl="0" indent="-4572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Creating Cohort Month (first purchase)</a:t>
            </a:r>
          </a:p>
          <a:p>
            <a:pPr marL="457200" lvl="0" indent="-4572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Building Cohort Index to track behavior over time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91EFB-7944-0CEA-2B97-27CD3F1BE188}"/>
              </a:ext>
            </a:extLst>
          </p:cNvPr>
          <p:cNvSpPr txBox="1"/>
          <p:nvPr/>
        </p:nvSpPr>
        <p:spPr>
          <a:xfrm>
            <a:off x="1034141" y="283803"/>
            <a:ext cx="8381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FEATURE ENGINEERING SUMMARY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152A50-27FA-87DF-C838-5ED635F01C2C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D1181F-2B89-AA6B-EF9C-3752714AA6AC}"/>
              </a:ext>
            </a:extLst>
          </p:cNvPr>
          <p:cNvCxnSpPr>
            <a:cxnSpLocks/>
          </p:cNvCxnSpPr>
          <p:nvPr/>
        </p:nvCxnSpPr>
        <p:spPr>
          <a:xfrm>
            <a:off x="1306491" y="930134"/>
            <a:ext cx="2154971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04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4933A2E-76F8-3C1F-2510-B1593BF86C99}"/>
              </a:ext>
            </a:extLst>
          </p:cNvPr>
          <p:cNvSpPr txBox="1"/>
          <p:nvPr/>
        </p:nvSpPr>
        <p:spPr>
          <a:xfrm>
            <a:off x="591455" y="852451"/>
            <a:ext cx="3891646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United States dominates both customer count and revenue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Revenue growth is mainly driven by higher number of customers, not higher spending per user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United Kingdom shows comparatively lower activity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06504B61-3DC4-682F-AC36-1C1A0B28E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595" y="1581070"/>
            <a:ext cx="7367805" cy="393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D6FBA9-3C6B-7724-3697-E4CBF939B55B}"/>
              </a:ext>
            </a:extLst>
          </p:cNvPr>
          <p:cNvSpPr txBox="1"/>
          <p:nvPr/>
        </p:nvSpPr>
        <p:spPr>
          <a:xfrm>
            <a:off x="1148511" y="206120"/>
            <a:ext cx="4947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BUSINESS TREND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9FA567-558D-A681-B245-26C129B1C3F6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7667F7-E80F-C07F-95B7-E91F5EE9F562}"/>
              </a:ext>
            </a:extLst>
          </p:cNvPr>
          <p:cNvCxnSpPr>
            <a:cxnSpLocks/>
          </p:cNvCxnSpPr>
          <p:nvPr/>
        </p:nvCxnSpPr>
        <p:spPr>
          <a:xfrm>
            <a:off x="1293791" y="852451"/>
            <a:ext cx="2154971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76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No description has been provided for this image">
            <a:extLst>
              <a:ext uri="{FF2B5EF4-FFF2-40B4-BE49-F238E27FC236}">
                <a16:creationId xmlns:a16="http://schemas.microsoft.com/office/drawing/2014/main" id="{E6CD8FDF-E628-4412-F7A9-E0DD0E7C3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988" y="931853"/>
            <a:ext cx="8040543" cy="56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D2A83-5E89-D1AB-E529-5F70C8BEFCF8}"/>
              </a:ext>
            </a:extLst>
          </p:cNvPr>
          <p:cNvSpPr txBox="1"/>
          <p:nvPr/>
        </p:nvSpPr>
        <p:spPr>
          <a:xfrm>
            <a:off x="1119371" y="128533"/>
            <a:ext cx="4976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PRODUCT INSIGHT</a:t>
            </a:r>
            <a:endParaRPr lang="en-US" sz="3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34729-BC56-8384-BD9C-EF9CEDD13B8F}"/>
              </a:ext>
            </a:extLst>
          </p:cNvPr>
          <p:cNvSpPr txBox="1"/>
          <p:nvPr/>
        </p:nvSpPr>
        <p:spPr>
          <a:xfrm>
            <a:off x="748390" y="1587500"/>
            <a:ext cx="2903572" cy="342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Fashion is the most frequently purchased category, followed by Home &amp; Living and Electronics Indicating a strong demand in lifestyle and retail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967793-1256-309D-E8BC-23F014EF9A30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6930EE5-6DD0-7055-0D2D-38DCA608BE2B}"/>
              </a:ext>
            </a:extLst>
          </p:cNvPr>
          <p:cNvCxnSpPr>
            <a:cxnSpLocks/>
          </p:cNvCxnSpPr>
          <p:nvPr/>
        </p:nvCxnSpPr>
        <p:spPr>
          <a:xfrm>
            <a:off x="1496991" y="774864"/>
            <a:ext cx="2154971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033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No description has been provided for this image">
            <a:extLst>
              <a:ext uri="{FF2B5EF4-FFF2-40B4-BE49-F238E27FC236}">
                <a16:creationId xmlns:a16="http://schemas.microsoft.com/office/drawing/2014/main" id="{1B0FAE18-4453-3C08-0920-83361FD9B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399" y="728362"/>
            <a:ext cx="8102597" cy="612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540E83-F7F5-93FF-F8CF-ECF6635F053C}"/>
              </a:ext>
            </a:extLst>
          </p:cNvPr>
          <p:cNvSpPr txBox="1"/>
          <p:nvPr/>
        </p:nvSpPr>
        <p:spPr>
          <a:xfrm>
            <a:off x="546105" y="1148316"/>
            <a:ext cx="36412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Revenue shows a consistent upward trend throughout the year.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Gradual growth from Dec 2023 to Oct 2024 indicates steady business expansion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sharp increase between Oct and Nov suggests a possible seasonal effect or successful campaign.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Revenue peaks in Nov–Dec 2024, showing strongest performance at year-end.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Overall, the business demonstrates strong growth with peak performance in the final quarter (Q4)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1241A-9F8B-0684-7941-E4879C6D9B0C}"/>
              </a:ext>
            </a:extLst>
          </p:cNvPr>
          <p:cNvSpPr txBox="1"/>
          <p:nvPr/>
        </p:nvSpPr>
        <p:spPr>
          <a:xfrm>
            <a:off x="-141514" y="-240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REVENUE TREND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8E1E32-8266-200E-F1F4-EB0E1460F2A9}"/>
              </a:ext>
            </a:extLst>
          </p:cNvPr>
          <p:cNvCxnSpPr>
            <a:cxnSpLocks/>
          </p:cNvCxnSpPr>
          <p:nvPr/>
        </p:nvCxnSpPr>
        <p:spPr>
          <a:xfrm>
            <a:off x="1393356" y="544284"/>
            <a:ext cx="2253358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268009-89BA-5294-14C8-71464AAE99D2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99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EA427BC-E427-F677-4CE5-A9A299EC2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1287D-63C5-E897-EE86-A48600640A94}"/>
              </a:ext>
            </a:extLst>
          </p:cNvPr>
          <p:cNvSpPr txBox="1"/>
          <p:nvPr/>
        </p:nvSpPr>
        <p:spPr>
          <a:xfrm flipH="1">
            <a:off x="668561" y="949122"/>
            <a:ext cx="4082142" cy="495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Retention drops sharply after the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first month (~20–30%)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Retention stabilizes in later months with consistent returning customers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No cohort shows strong long-term retention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Recent cohorts have limited data for later months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Early customer drop-off is high, highlighting the need to improve first-month engagement and retention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E558BE5E-7C42-C816-8663-1C30C0830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00" y="1110343"/>
            <a:ext cx="6879770" cy="538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E563AF-BEDE-92E4-5B4F-736C3957461E}"/>
              </a:ext>
            </a:extLst>
          </p:cNvPr>
          <p:cNvSpPr txBox="1"/>
          <p:nvPr/>
        </p:nvSpPr>
        <p:spPr>
          <a:xfrm>
            <a:off x="683985" y="105378"/>
            <a:ext cx="6974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COHORT ANALYSIS INSIGHT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0E38BA-EEBD-D525-9959-692194DE545E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9CD93C-5DB7-71E4-7532-820D5C6C511A}"/>
              </a:ext>
            </a:extLst>
          </p:cNvPr>
          <p:cNvCxnSpPr>
            <a:cxnSpLocks/>
          </p:cNvCxnSpPr>
          <p:nvPr/>
        </p:nvCxnSpPr>
        <p:spPr>
          <a:xfrm>
            <a:off x="1086758" y="751709"/>
            <a:ext cx="2253358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134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A58DB3-DE3C-4DA5-0B5D-3E0399ABABBD}"/>
              </a:ext>
            </a:extLst>
          </p:cNvPr>
          <p:cNvSpPr txBox="1"/>
          <p:nvPr/>
        </p:nvSpPr>
        <p:spPr>
          <a:xfrm>
            <a:off x="431799" y="56114"/>
            <a:ext cx="8229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MODEL DEVELOPMENT PIPELINE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89BE44-95E4-C89E-F2A9-00A509F72E45}"/>
              </a:ext>
            </a:extLst>
          </p:cNvPr>
          <p:cNvGrpSpPr/>
          <p:nvPr/>
        </p:nvGrpSpPr>
        <p:grpSpPr>
          <a:xfrm>
            <a:off x="4470400" y="1397000"/>
            <a:ext cx="3998679" cy="5237256"/>
            <a:chOff x="2046496" y="1095425"/>
            <a:chExt cx="4528474" cy="576143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14356C-83FE-3814-3A1D-9DABD92F1022}"/>
                </a:ext>
              </a:extLst>
            </p:cNvPr>
            <p:cNvSpPr/>
            <p:nvPr/>
          </p:nvSpPr>
          <p:spPr>
            <a:xfrm>
              <a:off x="2046497" y="1095425"/>
              <a:ext cx="4528473" cy="642256"/>
            </a:xfrm>
            <a:prstGeom prst="roundRect">
              <a:avLst>
                <a:gd name="adj" fmla="val 25142"/>
              </a:avLst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 Data</a:t>
              </a:r>
              <a:endPara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6E317C-A6F3-BF46-F4B0-1267D5647D1B}"/>
                </a:ext>
              </a:extLst>
            </p:cNvPr>
            <p:cNvSpPr/>
            <p:nvPr/>
          </p:nvSpPr>
          <p:spPr>
            <a:xfrm>
              <a:off x="2046496" y="2193475"/>
              <a:ext cx="4528473" cy="968824"/>
            </a:xfrm>
            <a:prstGeom prst="roundRect">
              <a:avLst>
                <a:gd name="adj" fmla="val 25142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RFM Analysis 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(Recency, Frequency, Monetary)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F72D25C-9F98-8744-E01F-1431ABE6BDDB}"/>
                </a:ext>
              </a:extLst>
            </p:cNvPr>
            <p:cNvSpPr/>
            <p:nvPr/>
          </p:nvSpPr>
          <p:spPr>
            <a:xfrm>
              <a:off x="2046496" y="3531718"/>
              <a:ext cx="4528473" cy="642256"/>
            </a:xfrm>
            <a:prstGeom prst="roundRect">
              <a:avLst>
                <a:gd name="adj" fmla="val 25142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 Scaling</a:t>
              </a:r>
              <a:endPara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A136AA-7585-200F-1520-E6A92E728567}"/>
                </a:ext>
              </a:extLst>
            </p:cNvPr>
            <p:cNvSpPr/>
            <p:nvPr/>
          </p:nvSpPr>
          <p:spPr>
            <a:xfrm>
              <a:off x="2046496" y="4741334"/>
              <a:ext cx="4528473" cy="683797"/>
            </a:xfrm>
            <a:prstGeom prst="roundRect">
              <a:avLst>
                <a:gd name="adj" fmla="val 25142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latin typeface="Arial "/>
                </a:rPr>
                <a:t>K-means Clustering</a:t>
              </a:r>
              <a:endParaRPr lang="en-US" sz="2400" dirty="0">
                <a:latin typeface="Arial 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A9030D5-3E2D-0760-95BA-6CB6D64E189A}"/>
                </a:ext>
              </a:extLst>
            </p:cNvPr>
            <p:cNvSpPr/>
            <p:nvPr/>
          </p:nvSpPr>
          <p:spPr>
            <a:xfrm>
              <a:off x="2046496" y="5787272"/>
              <a:ext cx="4528473" cy="1069590"/>
            </a:xfrm>
            <a:prstGeom prst="roundRect">
              <a:avLst>
                <a:gd name="adj" fmla="val 25142"/>
              </a:avLst>
            </a:prstGeom>
            <a:solidFill>
              <a:srgbClr val="1422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Customer Segment</a:t>
              </a:r>
            </a:p>
            <a:p>
              <a:pPr algn="ctr"/>
              <a:r>
                <a:rPr lang="en-GB" dirty="0">
                  <a:latin typeface="Arial "/>
                </a:rPr>
                <a:t>(Champion | Royal | At risk | VIP)</a:t>
              </a:r>
              <a:endParaRPr lang="en-US" dirty="0">
                <a:latin typeface="Arial "/>
              </a:endParaRPr>
            </a:p>
            <a:p>
              <a:pPr algn="ctr"/>
              <a:endParaRPr lang="en-US" dirty="0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1E38632C-8A9D-ED45-F00A-5F7432A457E8}"/>
                </a:ext>
              </a:extLst>
            </p:cNvPr>
            <p:cNvSpPr/>
            <p:nvPr/>
          </p:nvSpPr>
          <p:spPr>
            <a:xfrm>
              <a:off x="4310732" y="1759454"/>
              <a:ext cx="239494" cy="410152"/>
            </a:xfrm>
            <a:prstGeom prst="downArrow">
              <a:avLst/>
            </a:prstGeom>
            <a:solidFill>
              <a:srgbClr val="0033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F272266A-6CA3-2B4C-9EE6-B15C81992B81}"/>
                </a:ext>
              </a:extLst>
            </p:cNvPr>
            <p:cNvSpPr/>
            <p:nvPr/>
          </p:nvSpPr>
          <p:spPr>
            <a:xfrm>
              <a:off x="4310732" y="3207941"/>
              <a:ext cx="195940" cy="314308"/>
            </a:xfrm>
            <a:prstGeom prst="downArrow">
              <a:avLst/>
            </a:prstGeom>
            <a:solidFill>
              <a:srgbClr val="0033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6194819F-AF24-F8B5-6FAC-2CD9A5278B41}"/>
                </a:ext>
              </a:extLst>
            </p:cNvPr>
            <p:cNvSpPr/>
            <p:nvPr/>
          </p:nvSpPr>
          <p:spPr>
            <a:xfrm>
              <a:off x="4310732" y="4219616"/>
              <a:ext cx="195940" cy="542879"/>
            </a:xfrm>
            <a:prstGeom prst="downArrow">
              <a:avLst/>
            </a:prstGeom>
            <a:solidFill>
              <a:srgbClr val="0033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6161D648-03ED-B9A6-270D-54CA0177E331}"/>
                </a:ext>
              </a:extLst>
            </p:cNvPr>
            <p:cNvSpPr/>
            <p:nvPr/>
          </p:nvSpPr>
          <p:spPr>
            <a:xfrm>
              <a:off x="4310732" y="5445524"/>
              <a:ext cx="195940" cy="321355"/>
            </a:xfrm>
            <a:prstGeom prst="downArrow">
              <a:avLst/>
            </a:prstGeom>
            <a:solidFill>
              <a:srgbClr val="0033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123960-4412-1283-2166-B46D48447D23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3EF702-136B-A25E-13C7-93A4A5BBF2B9}"/>
              </a:ext>
            </a:extLst>
          </p:cNvPr>
          <p:cNvCxnSpPr>
            <a:cxnSpLocks/>
          </p:cNvCxnSpPr>
          <p:nvPr/>
        </p:nvCxnSpPr>
        <p:spPr>
          <a:xfrm>
            <a:off x="959758" y="688209"/>
            <a:ext cx="2189842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14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F1A607E0-48A0-352A-0079-F303A7076E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23457" cy="262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9880F27-3B59-4DE9-A44F-C6D25B4FF0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Generated image: Customer segments infographic overview">
            <a:extLst>
              <a:ext uri="{FF2B5EF4-FFF2-40B4-BE49-F238E27FC236}">
                <a16:creationId xmlns:a16="http://schemas.microsoft.com/office/drawing/2014/main" id="{08BFDC5C-8171-552F-A687-47DE07D57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722019-5D07-CA86-ACC9-669E57C37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32" y="1382286"/>
            <a:ext cx="6422568" cy="54757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B410E5-2151-F8EE-684C-7BB4DA8D9258}"/>
              </a:ext>
            </a:extLst>
          </p:cNvPr>
          <p:cNvSpPr txBox="1"/>
          <p:nvPr/>
        </p:nvSpPr>
        <p:spPr>
          <a:xfrm>
            <a:off x="625926" y="1262744"/>
            <a:ext cx="476794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Customers are segmented using RFM analysis and K-Means clustering to understand their buying behaviour.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This helps group customers based on how recently, how often, and how much they purchase.</a:t>
            </a: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Each group shows different patterns such as loyal users, inactive users, and high-value customers.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These insights help the business create targeted marketing strategies to improve retention and increase revenue.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450113-D9E4-3F6B-AC2C-36156C76E85D}"/>
              </a:ext>
            </a:extLst>
          </p:cNvPr>
          <p:cNvSpPr txBox="1"/>
          <p:nvPr/>
        </p:nvSpPr>
        <p:spPr>
          <a:xfrm>
            <a:off x="444108" y="62415"/>
            <a:ext cx="117569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CUSTOMER BEHAVIOR SEGMENTATION FRAMEWORK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39477A-29FF-A637-14D7-8F0A280CBF6E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2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2FE4-787E-D890-ECBF-121B565A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FCD5C6EA-6504-B63B-1A1F-28B712E30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23457" cy="262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6DC4763-B7D0-0178-414C-F339606A6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Generated image: Customer segments infographic overview">
            <a:extLst>
              <a:ext uri="{FF2B5EF4-FFF2-40B4-BE49-F238E27FC236}">
                <a16:creationId xmlns:a16="http://schemas.microsoft.com/office/drawing/2014/main" id="{985EB116-54A0-369D-9986-2173F2662A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33DA0-7BEC-4EF1-10B8-340453A70900}"/>
              </a:ext>
            </a:extLst>
          </p:cNvPr>
          <p:cNvSpPr txBox="1"/>
          <p:nvPr/>
        </p:nvSpPr>
        <p:spPr>
          <a:xfrm>
            <a:off x="613159" y="917912"/>
            <a:ext cx="492614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Champions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are the most valuable segment, with the highest purchase frequency and revenue contribution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Ultra VIPs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show recent activity but lower overall spending and engagement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Loyal Regulars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maintain steady behaviour but do not drive significant revenue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At Risk / Lost customers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show declining engagement, indicating potential churn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 clear performance gap exists between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top-tier customers and other segments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FE94D-689A-DE72-9CA1-2A5393C3CDEE}"/>
              </a:ext>
            </a:extLst>
          </p:cNvPr>
          <p:cNvSpPr txBox="1"/>
          <p:nvPr/>
        </p:nvSpPr>
        <p:spPr>
          <a:xfrm>
            <a:off x="1709060" y="187420"/>
            <a:ext cx="9905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SEGMENT PERFORMANCE OVERVIEW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149E30-8F9C-8C1F-0049-AD37AD77A710}"/>
              </a:ext>
            </a:extLst>
          </p:cNvPr>
          <p:cNvCxnSpPr>
            <a:cxnSpLocks/>
          </p:cNvCxnSpPr>
          <p:nvPr/>
        </p:nvCxnSpPr>
        <p:spPr>
          <a:xfrm>
            <a:off x="1815435" y="710640"/>
            <a:ext cx="5823856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o description has been provided for this image">
            <a:extLst>
              <a:ext uri="{FF2B5EF4-FFF2-40B4-BE49-F238E27FC236}">
                <a16:creationId xmlns:a16="http://schemas.microsoft.com/office/drawing/2014/main" id="{5B7F8458-9E36-F177-F05E-C2FB43D04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306" y="1233860"/>
            <a:ext cx="6652694" cy="559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BE2B0C-FC76-092B-0C5F-78E4DEC3DF84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17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1197D44-8092-03E7-5BAE-46D298FFBFF6}"/>
              </a:ext>
            </a:extLst>
          </p:cNvPr>
          <p:cNvSpPr txBox="1"/>
          <p:nvPr/>
        </p:nvSpPr>
        <p:spPr>
          <a:xfrm>
            <a:off x="1124858" y="1494699"/>
            <a:ext cx="1052648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 "/>
              </a:rPr>
              <a:t>Analysis is based only on historical transaction data, no external behavioral data included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Arial 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 "/>
              </a:rPr>
              <a:t>Customer segmentation depends on RFM metrics only, which may not capture full customer behavior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 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 "/>
              </a:rPr>
              <a:t>Assumes past purchasing patterns will remain the same in the future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 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 "/>
              </a:rPr>
              <a:t>Seasonal or external market factors are not deeply analyzed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 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 "/>
              </a:rPr>
              <a:t>Some customer groups may have limited data points in certain time periods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 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 "/>
              </a:rPr>
              <a:t>Does not include real-time customer activity or feedback data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DA2CDD-F774-57B8-B3B8-C7DE12A072AF}"/>
              </a:ext>
            </a:extLst>
          </p:cNvPr>
          <p:cNvSpPr txBox="1"/>
          <p:nvPr/>
        </p:nvSpPr>
        <p:spPr>
          <a:xfrm>
            <a:off x="970641" y="63500"/>
            <a:ext cx="3853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4E5E22-41E8-FF6A-AF0B-95BDF7A4F487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45BE2E9-C08C-8A95-C1FF-83DD17DEDF54}"/>
              </a:ext>
            </a:extLst>
          </p:cNvPr>
          <p:cNvCxnSpPr>
            <a:cxnSpLocks/>
          </p:cNvCxnSpPr>
          <p:nvPr/>
        </p:nvCxnSpPr>
        <p:spPr>
          <a:xfrm>
            <a:off x="1124858" y="688209"/>
            <a:ext cx="2189842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19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07457-C761-4770-9319-43471EE9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ADC17D-BE34-4358-3241-6C3538C17009}"/>
              </a:ext>
            </a:extLst>
          </p:cNvPr>
          <p:cNvSpPr txBox="1"/>
          <p:nvPr/>
        </p:nvSpPr>
        <p:spPr>
          <a:xfrm>
            <a:off x="656387" y="965063"/>
            <a:ext cx="4753813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 "/>
              </a:rPr>
              <a:t>Revenue shows a steady upward trend, with strong growth in the later months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 "/>
              </a:rPr>
              <a:t>Customer retention drops significantly after the first month, showing early churn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 "/>
              </a:rPr>
              <a:t>Majority of customers fall into low to medium engagement segments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 "/>
              </a:rPr>
              <a:t>Only a small group of Champions drive high value and frequent purchases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 "/>
              </a:rPr>
              <a:t>Customer behaviour varies clearly across cohorts, proving distinct usage patterns over time</a:t>
            </a:r>
            <a:endParaRPr lang="en-US" dirty="0">
              <a:latin typeface="Arial 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GB" dirty="0">
              <a:latin typeface="Arial 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71F-4031-CA95-B512-E99B08705727}"/>
              </a:ext>
            </a:extLst>
          </p:cNvPr>
          <p:cNvSpPr txBox="1"/>
          <p:nvPr/>
        </p:nvSpPr>
        <p:spPr>
          <a:xfrm>
            <a:off x="542087" y="115669"/>
            <a:ext cx="7299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    KEY INSIGHT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A7CDD00-B0EF-AAF8-338D-7A2CF14AD266}"/>
              </a:ext>
            </a:extLst>
          </p:cNvPr>
          <p:cNvSpPr/>
          <p:nvPr/>
        </p:nvSpPr>
        <p:spPr>
          <a:xfrm>
            <a:off x="5959544" y="762000"/>
            <a:ext cx="5809729" cy="5987143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Arial "/>
              </a:rPr>
              <a:t>BUSINESS RECOMMENDATIONS</a:t>
            </a:r>
          </a:p>
          <a:p>
            <a:pPr algn="ctr"/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improving first-month customer experience to reduce early churn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targeted campaigns for At Risk customers to bring them back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 loyalty programs and rewards for high-value (Champion) customers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 personalized offers based on customer segments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Strengthen engagement strategies during early customer lifecycle stages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cohort insights to optimize marketing timing and retention strategies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15DD40-891E-9ABC-4F32-0597170D21AA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EECE6C-AA72-985D-F4AC-A3BC05307704}"/>
              </a:ext>
            </a:extLst>
          </p:cNvPr>
          <p:cNvCxnSpPr>
            <a:cxnSpLocks/>
          </p:cNvCxnSpPr>
          <p:nvPr/>
        </p:nvCxnSpPr>
        <p:spPr>
          <a:xfrm>
            <a:off x="1302658" y="688209"/>
            <a:ext cx="2189842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69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FE4D6-EE5A-44AC-767B-3BD0FB17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A08C35-3F8C-4F48-1975-8FDBDE6F77E7}"/>
              </a:ext>
            </a:extLst>
          </p:cNvPr>
          <p:cNvSpPr txBox="1"/>
          <p:nvPr/>
        </p:nvSpPr>
        <p:spPr>
          <a:xfrm>
            <a:off x="789732" y="1641619"/>
            <a:ext cx="6329002" cy="3574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business has a strong customer base with consistent transaction activity. 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Most revenue is driven by customers from the United States.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Fashion and lifestyle products are the most popular categories.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7BB6C-407C-0EBD-6721-03FAA181A36F}"/>
              </a:ext>
            </a:extLst>
          </p:cNvPr>
          <p:cNvSpPr txBox="1"/>
          <p:nvPr/>
        </p:nvSpPr>
        <p:spPr>
          <a:xfrm>
            <a:off x="1066079" y="136712"/>
            <a:ext cx="7299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 "/>
              </a:rPr>
              <a:t>CONCLUSION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2F20BA-E539-2823-DFAE-9912E601C464}"/>
              </a:ext>
            </a:extLst>
          </p:cNvPr>
          <p:cNvSpPr/>
          <p:nvPr/>
        </p:nvSpPr>
        <p:spPr>
          <a:xfrm>
            <a:off x="7308584" y="1455700"/>
            <a:ext cx="4213944" cy="1338299"/>
          </a:xfrm>
          <a:prstGeom prst="roundRect">
            <a:avLst>
              <a:gd name="adj" fmla="val 19544"/>
            </a:avLst>
          </a:prstGeom>
          <a:solidFill>
            <a:srgbClr val="F5F7F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sz="2000" dirty="0">
              <a:solidFill>
                <a:schemeClr val="tx1"/>
              </a:solidFill>
              <a:latin typeface="Arial "/>
            </a:endParaRPr>
          </a:p>
          <a:p>
            <a:pPr lvl="1"/>
            <a:r>
              <a:rPr lang="en-GB" sz="2000" dirty="0">
                <a:solidFill>
                  <a:schemeClr val="tx1"/>
                </a:solidFill>
                <a:latin typeface="Arial "/>
              </a:rPr>
              <a:t>Customer retention is low in the initial months, indicating early drop-off</a:t>
            </a:r>
            <a:r>
              <a:rPr lang="en-US" sz="2000" dirty="0">
                <a:solidFill>
                  <a:schemeClr val="tx1"/>
                </a:solidFill>
                <a:latin typeface="Arial "/>
              </a:rPr>
              <a:t>.</a:t>
            </a:r>
          </a:p>
          <a:p>
            <a:endParaRPr lang="en-US" sz="2000" dirty="0">
              <a:solidFill>
                <a:schemeClr val="tx1"/>
              </a:solidFill>
              <a:latin typeface="Arial 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Arial 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2DA430-198F-4DEF-18C6-4DF21C3368B8}"/>
              </a:ext>
            </a:extLst>
          </p:cNvPr>
          <p:cNvSpPr/>
          <p:nvPr/>
        </p:nvSpPr>
        <p:spPr>
          <a:xfrm>
            <a:off x="7308584" y="3334860"/>
            <a:ext cx="4213944" cy="1338299"/>
          </a:xfrm>
          <a:prstGeom prst="roundRect">
            <a:avLst>
              <a:gd name="adj" fmla="val 14534"/>
            </a:avLst>
          </a:prstGeom>
          <a:solidFill>
            <a:srgbClr val="F5F7F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  <a:latin typeface="Arial "/>
              <a:cs typeface="Arial" panose="020B0604020202020204" pitchFamily="34" charset="0"/>
            </a:endParaRPr>
          </a:p>
          <a:p>
            <a:endParaRPr lang="en-GB" sz="2000" dirty="0">
              <a:solidFill>
                <a:schemeClr val="tx1"/>
              </a:solidFill>
              <a:latin typeface="Arial "/>
            </a:endParaRP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Arial "/>
              </a:rPr>
              <a:t>Different customer segments show varying behaviour and value</a:t>
            </a:r>
            <a:endParaRPr lang="en-US" sz="2000" dirty="0">
              <a:solidFill>
                <a:schemeClr val="tx1"/>
              </a:solidFill>
              <a:latin typeface="Arial "/>
            </a:endParaRPr>
          </a:p>
          <a:p>
            <a:endParaRPr lang="en-US" sz="2000" dirty="0">
              <a:solidFill>
                <a:schemeClr val="tx1"/>
              </a:solidFill>
              <a:latin typeface="Arial "/>
            </a:endParaRPr>
          </a:p>
          <a:p>
            <a:endParaRPr lang="en-US" sz="2000" dirty="0">
              <a:solidFill>
                <a:schemeClr val="tx1"/>
              </a:solidFill>
              <a:latin typeface="Arial 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Arial 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B6433B-6EF0-0D53-BBD6-B180D263473C}"/>
              </a:ext>
            </a:extLst>
          </p:cNvPr>
          <p:cNvSpPr/>
          <p:nvPr/>
        </p:nvSpPr>
        <p:spPr>
          <a:xfrm>
            <a:off x="7308584" y="5345816"/>
            <a:ext cx="4213944" cy="1375472"/>
          </a:xfrm>
          <a:prstGeom prst="roundRect">
            <a:avLst>
              <a:gd name="adj" fmla="val 16538"/>
            </a:avLst>
          </a:prstGeom>
          <a:solidFill>
            <a:srgbClr val="F5F7F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solidFill>
                <a:schemeClr val="tx1"/>
              </a:solidFill>
              <a:latin typeface="Arial "/>
            </a:endParaRP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Arial "/>
              </a:rPr>
              <a:t>Customer retention is low in the initial months, indicating early drop-off</a:t>
            </a:r>
            <a:r>
              <a:rPr lang="en-US" sz="2000" dirty="0">
                <a:solidFill>
                  <a:schemeClr val="tx1"/>
                </a:solidFill>
                <a:latin typeface="Arial "/>
              </a:rPr>
              <a:t>.</a:t>
            </a:r>
          </a:p>
          <a:p>
            <a:endParaRPr lang="en-US" sz="2000" dirty="0">
              <a:solidFill>
                <a:schemeClr val="tx1"/>
              </a:solidFill>
              <a:latin typeface="Arial 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Arial 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C668E5-905F-CAAB-9630-E4CD9E6E79D0}"/>
              </a:ext>
            </a:extLst>
          </p:cNvPr>
          <p:cNvCxnSpPr>
            <a:cxnSpLocks/>
          </p:cNvCxnSpPr>
          <p:nvPr/>
        </p:nvCxnSpPr>
        <p:spPr>
          <a:xfrm>
            <a:off x="1201058" y="700909"/>
            <a:ext cx="2189842" cy="0"/>
          </a:xfrm>
          <a:prstGeom prst="line">
            <a:avLst/>
          </a:prstGeom>
          <a:ln w="762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E5ECFB-7894-ECB3-0747-78EA2FBFA16E}"/>
              </a:ext>
            </a:extLst>
          </p:cNvPr>
          <p:cNvCxnSpPr>
            <a:cxnSpLocks/>
          </p:cNvCxnSpPr>
          <p:nvPr/>
        </p:nvCxnSpPr>
        <p:spPr>
          <a:xfrm>
            <a:off x="250363" y="0"/>
            <a:ext cx="0" cy="6226629"/>
          </a:xfrm>
          <a:prstGeom prst="line">
            <a:avLst/>
          </a:prstGeom>
          <a:ln w="5080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61677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7214</TotalTime>
  <Words>816</Words>
  <Application>Microsoft Office PowerPoint</Application>
  <PresentationFormat>Widescreen</PresentationFormat>
  <Paragraphs>133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Arial </vt:lpstr>
      <vt:lpstr>Arial Black</vt:lpstr>
      <vt:lpstr>Calibri Light</vt:lpstr>
      <vt:lpstr>Wingdings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Chineye Robinson</dc:creator>
  <cp:lastModifiedBy>Chineye Robinson</cp:lastModifiedBy>
  <cp:revision>4</cp:revision>
  <dcterms:created xsi:type="dcterms:W3CDTF">2026-03-31T03:57:44Z</dcterms:created>
  <dcterms:modified xsi:type="dcterms:W3CDTF">2026-04-06T09:50:33Z</dcterms:modified>
</cp:coreProperties>
</file>